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71" r:id="rId4"/>
    <p:sldId id="267" r:id="rId5"/>
    <p:sldId id="257" r:id="rId6"/>
    <p:sldId id="258" r:id="rId7"/>
    <p:sldId id="269" r:id="rId8"/>
    <p:sldId id="260" r:id="rId9"/>
    <p:sldId id="270" r:id="rId10"/>
    <p:sldId id="261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A"/>
                </a:solidFill>
                <a:latin typeface="Calibri"/>
              </a:defRPr>
            </a:pPr>
            <a:r>
              <a:rPr lang="en-ID" sz="1300" b="0" i="0" u="none" strike="noStrike">
                <a:solidFill>
                  <a:srgbClr val="1B2A3A"/>
                </a:solidFill>
                <a:latin typeface="Calibri"/>
              </a:rPr>
              <a:t>Estimasi koefisien Fn linier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Estimasi</c:v>
                </c:pt>
              </c:strCache>
            </c:strRef>
          </c:tx>
          <c:spPr>
            <a:solidFill>
              <a:srgbClr val="1379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N(0; 0,5) sempit</c:v>
                </c:pt>
                <c:pt idx="1">
                  <c:v>N(0; 2,5) utama</c:v>
                </c:pt>
                <c:pt idx="2">
                  <c:v>N(0; 10) lebar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4.0199999999999996</c:v>
                </c:pt>
                <c:pt idx="1">
                  <c:v>18.34</c:v>
                </c:pt>
                <c:pt idx="2">
                  <c:v>18.36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81-434D-99CD-D7F1D61F4C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24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501F-18A7-00D6-A628-D8BB4B4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936AD-B259-8D11-8513-A58C8F6E2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70A65-7DA0-2D5A-46A9-282C29D89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59465-295E-08AF-0D75-E0C0C7E2D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54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1B2A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kern="0" spc="12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PROJECT REGRESI LANJUTAN  —  REGRESI BAYESIAN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Pengaruh Angka Kecepatan Froude terhadap Hambatan Sisa (Residuary Resistance) Kapal Yacht dengan Pengendalian Geometri Kapal melalui Pendekatan Regresi Bayesian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Regresi Bayesian dapat digunakan untuk memodelkan hambatan sisa kapal secara tepat, terukur, dan dapat dijelaskan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32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Hennyda Laura Br Tarigan (140720260015)  •  Yiska Friscilla (140720260014)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70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Jurusan Statistika Terapan — Fakultas MIPA — Universitas Padjadjaran —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4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</a:t>
            </a:r>
            <a:r>
              <a:rPr lang="en-US" sz="4267" b="1" dirty="0" err="1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Belakang</a:t>
            </a:r>
            <a:endParaRPr lang="en-US" sz="4267" dirty="0"/>
          </a:p>
        </p:txBody>
      </p:sp>
      <p:sp>
        <p:nvSpPr>
          <p:cNvPr id="15" name="Shape 13"/>
          <p:cNvSpPr/>
          <p:nvPr/>
        </p:nvSpPr>
        <p:spPr>
          <a:xfrm>
            <a:off x="609600" y="1432560"/>
            <a:ext cx="10972800" cy="4236720"/>
          </a:xfrm>
          <a:prstGeom prst="roundRect">
            <a:avLst>
              <a:gd name="adj" fmla="val 705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1080" y="1971040"/>
            <a:ext cx="10149840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Hambatan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sisa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(</a:t>
            </a:r>
            <a:r>
              <a:rPr lang="en-ID" sz="2000" i="1" dirty="0">
                <a:latin typeface="+mj-lt"/>
                <a:cs typeface="Times New Roman" panose="02020603050405020304" pitchFamily="18" charset="0"/>
              </a:rPr>
              <a:t>residuary resistance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merupakan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komponen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hambatan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kapal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bergantung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geometri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bentuk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lambung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kapal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kecepatan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angka</a:t>
            </a:r>
            <a:r>
              <a:rPr lang="en-ID" sz="2000" i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i="1" dirty="0" err="1">
                <a:latin typeface="+mj-lt"/>
                <a:cs typeface="Times New Roman" panose="02020603050405020304" pitchFamily="18" charset="0"/>
              </a:rPr>
              <a:t>froude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Prediksi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akurat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tahap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awal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perancangan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geometri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bentuk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lambung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penentuan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kecepatan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angka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i="1" dirty="0" err="1">
                <a:latin typeface="+mj-lt"/>
                <a:cs typeface="Times New Roman" panose="02020603050405020304" pitchFamily="18" charset="0"/>
              </a:rPr>
              <a:t>froude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tepat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maka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akan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memberikan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hambatan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sisa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(</a:t>
            </a:r>
            <a:r>
              <a:rPr lang="en-ID" sz="2000" i="1" dirty="0">
                <a:latin typeface="+mj-lt"/>
                <a:cs typeface="Times New Roman" panose="02020603050405020304" pitchFamily="18" charset="0"/>
              </a:rPr>
              <a:t>residuary resistance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)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mempengaruhi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pergerakan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kapal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membantu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perancang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menilai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kinerja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suatu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desain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geometri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kapal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sebelum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dilakukan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pengujian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fisik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Tantangan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utama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pada data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ini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adalah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distribusi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variabel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target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tidak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simetris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hubungan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non linier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antara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variabel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target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dengan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variabel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prediktor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utama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angka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kecepatan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i="1" dirty="0" err="1">
                <a:latin typeface="+mj-lt"/>
                <a:cs typeface="Times New Roman" panose="02020603050405020304" pitchFamily="18" charset="0"/>
              </a:rPr>
              <a:t>froude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(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fn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),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jumlah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desain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geometri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lambung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kapal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sangat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terbatas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Kondisi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membuat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regresi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linear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klasik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pada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skala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asli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kurang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memadai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membuka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ruang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bagi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pendekatan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secara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eksplisit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mengukur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ketidakpastian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melalui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regresi</a:t>
            </a:r>
            <a:r>
              <a:rPr lang="en-ID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+mj-lt"/>
                <a:cs typeface="Times New Roman" panose="02020603050405020304" pitchFamily="18" charset="0"/>
              </a:rPr>
              <a:t>bayesian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C62D-D78D-C9FE-6B93-01F0AFA5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A80967-633D-440A-9CF7-12752634B4FD}"/>
              </a:ext>
            </a:extLst>
          </p:cNvPr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hambatan kapal yacht</a:t>
            </a:r>
            <a:endParaRPr lang="en-US" sz="4267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413BDE-6D15-D485-CCD3-0F0C3BCC83D6}"/>
              </a:ext>
            </a:extLst>
          </p:cNvPr>
          <p:cNvSpPr/>
          <p:nvPr/>
        </p:nvSpPr>
        <p:spPr>
          <a:xfrm>
            <a:off x="609600" y="158496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E174F2-8255-99CC-B72E-9AC38B6B69E6}"/>
              </a:ext>
            </a:extLst>
          </p:cNvPr>
          <p:cNvSpPr txBox="1"/>
          <p:nvPr/>
        </p:nvSpPr>
        <p:spPr>
          <a:xfrm>
            <a:off x="853440" y="1767840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2E735F-72E2-217C-97A4-F210C25F1322}"/>
              </a:ext>
            </a:extLst>
          </p:cNvPr>
          <p:cNvSpPr txBox="1"/>
          <p:nvPr/>
        </p:nvSpPr>
        <p:spPr>
          <a:xfrm>
            <a:off x="853440" y="2605431"/>
            <a:ext cx="2072640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B8E2508-5A09-DCB5-BDBE-A4B263696289}"/>
              </a:ext>
            </a:extLst>
          </p:cNvPr>
          <p:cNvSpPr/>
          <p:nvPr/>
        </p:nvSpPr>
        <p:spPr>
          <a:xfrm>
            <a:off x="3413760" y="158496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5C6017-6CB3-7DDA-1089-8C4E027BDC82}"/>
              </a:ext>
            </a:extLst>
          </p:cNvPr>
          <p:cNvSpPr txBox="1"/>
          <p:nvPr/>
        </p:nvSpPr>
        <p:spPr>
          <a:xfrm>
            <a:off x="3657600" y="1767840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7CC0A3-84F9-90B5-2F8B-A53D090CDA80}"/>
              </a:ext>
            </a:extLst>
          </p:cNvPr>
          <p:cNvSpPr txBox="1"/>
          <p:nvPr/>
        </p:nvSpPr>
        <p:spPr>
          <a:xfrm>
            <a:off x="3657600" y="2605431"/>
            <a:ext cx="2072640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lambung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099326F-8E42-15BD-DDAA-B21E23B9DCC8}"/>
              </a:ext>
            </a:extLst>
          </p:cNvPr>
          <p:cNvSpPr/>
          <p:nvPr/>
        </p:nvSpPr>
        <p:spPr>
          <a:xfrm>
            <a:off x="6217920" y="158496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C60399-B82C-03AA-A3A3-1E673353771A}"/>
              </a:ext>
            </a:extLst>
          </p:cNvPr>
          <p:cNvSpPr txBox="1"/>
          <p:nvPr/>
        </p:nvSpPr>
        <p:spPr>
          <a:xfrm>
            <a:off x="6461760" y="1767840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24DFB7-29D5-E007-3A6C-7824FE6F28EE}"/>
              </a:ext>
            </a:extLst>
          </p:cNvPr>
          <p:cNvSpPr txBox="1"/>
          <p:nvPr/>
        </p:nvSpPr>
        <p:spPr>
          <a:xfrm>
            <a:off x="6461760" y="2605431"/>
            <a:ext cx="2072640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Fn per desain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BF57FE-94BB-6565-56BC-540A836572B6}"/>
              </a:ext>
            </a:extLst>
          </p:cNvPr>
          <p:cNvSpPr/>
          <p:nvPr/>
        </p:nvSpPr>
        <p:spPr>
          <a:xfrm>
            <a:off x="9022080" y="1584960"/>
            <a:ext cx="2560320" cy="164592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D95109-6C40-1B20-386A-9A9D8C31CADE}"/>
              </a:ext>
            </a:extLst>
          </p:cNvPr>
          <p:cNvSpPr txBox="1"/>
          <p:nvPr/>
        </p:nvSpPr>
        <p:spPr>
          <a:xfrm>
            <a:off x="9265920" y="1767840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+ 1</a:t>
            </a:r>
            <a:endParaRPr lang="en-US" sz="4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3A45BE-D3D9-BEF1-ADD4-41CD9D55906B}"/>
              </a:ext>
            </a:extLst>
          </p:cNvPr>
          <p:cNvSpPr txBox="1"/>
          <p:nvPr/>
        </p:nvSpPr>
        <p:spPr>
          <a:xfrm>
            <a:off x="9265920" y="2605431"/>
            <a:ext cx="2072640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prediktor + target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DC27CE5-51AA-A70D-A781-04B9B56D1C08}"/>
              </a:ext>
            </a:extLst>
          </p:cNvPr>
          <p:cNvSpPr/>
          <p:nvPr/>
        </p:nvSpPr>
        <p:spPr>
          <a:xfrm>
            <a:off x="609600" y="3596640"/>
            <a:ext cx="10972800" cy="2072640"/>
          </a:xfrm>
          <a:prstGeom prst="roundRect">
            <a:avLst>
              <a:gd name="adj" fmla="val 705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6E584A-0239-246E-BF12-961822DB84D0}"/>
              </a:ext>
            </a:extLst>
          </p:cNvPr>
          <p:cNvSpPr txBox="1"/>
          <p:nvPr/>
        </p:nvSpPr>
        <p:spPr>
          <a:xfrm>
            <a:off x="975360" y="3840480"/>
            <a:ext cx="512064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LCB  posisi longitudinal pusat apung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 koefisien prismatik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 rasio panjang-perpindahan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BDR  rasio lebar-sarat</a:t>
            </a:r>
            <a:endParaRPr lang="en-US" sz="18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D0585E5-5B9F-F128-8EAC-15F6B309B0B8}"/>
              </a:ext>
            </a:extLst>
          </p:cNvPr>
          <p:cNvSpPr txBox="1"/>
          <p:nvPr/>
        </p:nvSpPr>
        <p:spPr>
          <a:xfrm>
            <a:off x="6339840" y="3840480"/>
            <a:ext cx="499872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LBR  rasio panjang-lebar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 bilangan Froude (kecepatan tak berdimensi)</a:t>
            </a:r>
            <a:endParaRPr lang="en-US" sz="1867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hambatan sisa (variabel target)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1400006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regresi Bayesian?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645920"/>
            <a:ext cx="5486400" cy="1341120"/>
          </a:xfrm>
          <a:prstGeom prst="roundRect">
            <a:avLst>
              <a:gd name="adj" fmla="val 1090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tidak simetris</a:t>
            </a:r>
            <a:endParaRPr lang="en-US" sz="2267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1648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Hambatan sisa (r) condong ke kanan, skewness 1,74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" y="3169920"/>
            <a:ext cx="5486400" cy="1341120"/>
          </a:xfrm>
          <a:prstGeom prst="roundRect">
            <a:avLst>
              <a:gd name="adj" fmla="val 1090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3528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Hubungan non-linier</a:t>
            </a:r>
            <a:endParaRPr lang="en-US" sz="2267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melengkung tajam terhadap angka Froude (Fn)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4693920"/>
            <a:ext cx="5486400" cy="1341120"/>
          </a:xfrm>
          <a:prstGeom prst="roundRect">
            <a:avLst>
              <a:gd name="adj" fmla="val 1090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87680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lambung terbatas</a:t>
            </a:r>
            <a:endParaRPr lang="en-US" sz="2267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364480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22 desain geometri, sehingga ketidakpastian perlu diukur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461760" y="1645920"/>
            <a:ext cx="5120640" cy="438912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7520" y="195072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pertanyaan penelitian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27520" y="2621280"/>
            <a:ext cx="43891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333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transformasi target menstabilkan varians dan meluruskan hubungan?</a:t>
            </a:r>
            <a:endParaRPr lang="en-US" sz="1867" dirty="0"/>
          </a:p>
          <a:p>
            <a:pPr marL="457189" indent="-457189">
              <a:spcAft>
                <a:spcPts val="1333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estimasi stabil, terdiagnosis baik, dan tidak sensitif terhadap prior?</a:t>
            </a:r>
            <a:endParaRPr lang="en-US" sz="1867" dirty="0"/>
          </a:p>
          <a:p>
            <a:pPr marL="457189" indent="-457189">
              <a:spcAft>
                <a:spcPts val="1333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prediksinya dibanding OLS dan Random Forest?</a:t>
            </a:r>
            <a:endParaRPr lang="en-US" sz="18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308 Observasi dari 22 Desain Lambung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995244"/>
              </p:ext>
            </p:extLst>
          </p:nvPr>
        </p:nvGraphicFramePr>
        <p:xfrm>
          <a:off x="548640" y="1508760"/>
          <a:ext cx="6035040" cy="30175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 (r)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Hambatan sisa, skewness 1,739 (miring ke kanan)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Prediktor bentuk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LCB, PC, LDR, BDR, LBR (5 variabel)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Prediktor kecepatan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(bilangan Froude), rentang 0,125–0,45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Kelengkapan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numerik, 0 nilai hilang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Pembagian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80:20 → 246 latih, 62 uji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Praproses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Prediktor selain </a:t>
                      </a:r>
                      <a:r>
                        <a:rPr lang="en-US" sz="1100" dirty="0" err="1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distandarisasi</a:t>
                      </a: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(z-score)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EF5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4828032"/>
            <a:ext cx="17373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10,49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520233"/>
            <a:ext cx="17373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(median 3,06)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606040" y="4754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EF5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97480" y="4828032"/>
            <a:ext cx="17373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15,16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5520233"/>
            <a:ext cx="17373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4754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EF5F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4828032"/>
            <a:ext cx="17373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0,01–62,42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5520233"/>
            <a:ext cx="1737360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r</a:t>
            </a:r>
            <a:endParaRPr lang="en-US" sz="1050" dirty="0"/>
          </a:p>
        </p:txBody>
      </p:sp>
      <p:pic>
        <p:nvPicPr>
          <p:cNvPr id="14" name="Image 0" descr="/home/claude/bayes_img/img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508760"/>
            <a:ext cx="4846320" cy="34602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0372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log1p(r) menurunkan skewness dari 1,739 menjadi 0,466.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 Mendominasi; Perlu log1p dan Suku Kuadratik</a:t>
            </a:r>
            <a:endParaRPr lang="en-US" sz="2800" dirty="0"/>
          </a:p>
        </p:txBody>
      </p:sp>
      <p:pic>
        <p:nvPicPr>
          <p:cNvPr id="4" name="Image 0" descr="/home/claude/bayes_img/img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00800" cy="45701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53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r–Fn melengkung tajam; pada log(r) menjadi hampir linear terhadap Fn².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Korelasi dengan respons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78308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EF5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– 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23317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EF5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– log(r)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2331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9520" y="288036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CDE9E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Fn² – log(r)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2880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0,997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Pemeriksaan asumsi (skala asli)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8952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5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80960" y="4050792"/>
            <a:ext cx="1737360" cy="6656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4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68,09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714646"/>
            <a:ext cx="173736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Breusch–Pagan (p = 1×10⁻¹²)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92640" y="3977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5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784080" y="4050792"/>
            <a:ext cx="1737360" cy="66568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4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49,1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784080" y="4714646"/>
            <a:ext cx="173736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tertinggi (LDR)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5303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Heteroskedastisitas mendorong </a:t>
            </a:r>
            <a:r>
              <a:rPr lang="en-US" sz="1150" dirty="0" err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</a:t>
            </a: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log(r) Multikolinearitas LDR/BDR/LBR (VIF 35–49)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183112" y="64922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model Bayesian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584960"/>
            <a:ext cx="10972800" cy="1402080"/>
          </a:xfrm>
          <a:prstGeom prst="roundRect">
            <a:avLst>
              <a:gd name="adj" fmla="val 1043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3440" y="1706880"/>
            <a:ext cx="104851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log(1 + r) = β₀ + β₁P₁(Fn) + β₂P₂(Fn) + β₃LCB + β₄PC + β₅LDR + β₆BDR + β₇LBR + 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600" y="3352800"/>
            <a:ext cx="3413760" cy="26822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3440" y="35356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137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</a:t>
            </a:r>
            <a:endParaRPr lang="en-US" sz="1867" dirty="0"/>
          </a:p>
        </p:txBody>
      </p:sp>
      <p:sp>
        <p:nvSpPr>
          <p:cNvPr id="7" name="Text 5"/>
          <p:cNvSpPr txBox="1"/>
          <p:nvPr/>
        </p:nvSpPr>
        <p:spPr>
          <a:xfrm>
            <a:off x="853440" y="4145280"/>
            <a:ext cx="29870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Normal, ε ~ N(0, σ²)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4389120" y="3352800"/>
            <a:ext cx="3413760" cy="26822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2960" y="35356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137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(weakly informative)</a:t>
            </a:r>
            <a:endParaRPr lang="en-US" sz="1867" dirty="0"/>
          </a:p>
        </p:txBody>
      </p:sp>
      <p:sp>
        <p:nvSpPr>
          <p:cNvPr id="10" name="Text 8"/>
          <p:cNvSpPr txBox="1"/>
          <p:nvPr/>
        </p:nvSpPr>
        <p:spPr>
          <a:xfrm>
            <a:off x="4632960" y="4145280"/>
            <a:ext cx="29870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b ~ Normal(0; 2,5)</a:t>
            </a:r>
            <a:endParaRPr lang="en-US" sz="1733" dirty="0"/>
          </a:p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~ Normal(0; 5)</a:t>
            </a:r>
            <a:endParaRPr lang="en-US" sz="1733" dirty="0"/>
          </a:p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~ Exponential(1)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8168640" y="3352800"/>
            <a:ext cx="3413760" cy="268224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35356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137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67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145280"/>
            <a:ext cx="29870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prediktor geometri distandardisasi</a:t>
            </a:r>
            <a:endParaRPr lang="en-US" sz="1733" dirty="0"/>
          </a:p>
          <a:p>
            <a:pPr>
              <a:spcAft>
                <a:spcPts val="533"/>
              </a:spcAft>
            </a:pPr>
            <a:r>
              <a:rPr lang="en-US" sz="1733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246, test 62 (80:20)</a:t>
            </a:r>
            <a:endParaRPr lang="en-US" sz="17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 Posterior dan Diagnostik Konvergensi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95% bawah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95% atas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poly(Fn,2) 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poly(Fn,2) kuadratik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hijau: CI 95% tidak memuat nol. Efek LDR, BDR, LBR, dan PC tidak dapat dibedakan dari nol (kolinearitas tinggi).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7589520" y="14630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5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0" y="1536192"/>
            <a:ext cx="178308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1,0008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15007"/>
            <a:ext cx="1783080" cy="357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R-hat maksimum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9264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84080" y="1536192"/>
            <a:ext cx="173736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4.473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2115007"/>
            <a:ext cx="1737360" cy="357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ESS minimum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2651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5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2724912"/>
            <a:ext cx="178308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&lt; 0,7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303727"/>
            <a:ext cx="1783080" cy="357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Pareto-k (LOO)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692640" y="26517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5F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784080" y="2724912"/>
            <a:ext cx="1737360" cy="588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−518,2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784080" y="3303727"/>
            <a:ext cx="1737360" cy="357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looic (SE 26,3)</a:t>
            </a:r>
            <a:endParaRPr lang="en-US" sz="1050" dirty="0"/>
          </a:p>
        </p:txBody>
      </p:sp>
      <p:pic>
        <p:nvPicPr>
          <p:cNvPr id="18" name="Image 0" descr="/home/claude/bayes_img/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840480"/>
            <a:ext cx="3200400" cy="228508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589520" y="6144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predictive check: y_rep mengikuti bentuk densitas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267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Sensitivitas prior: model robust</a:t>
            </a:r>
            <a:endParaRPr lang="en-US" sz="4267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09600" y="1584960"/>
          <a:ext cx="6096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71360" y="1584960"/>
            <a:ext cx="4511040" cy="4267200"/>
          </a:xfrm>
          <a:prstGeom prst="roundRect">
            <a:avLst>
              <a:gd name="adj" fmla="val 342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76160" y="1889760"/>
            <a:ext cx="3901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sempit menekan estimasi secara berlebihan.</a:t>
            </a:r>
            <a:endParaRPr lang="en-US" sz="1867" dirty="0"/>
          </a:p>
          <a:p>
            <a:endParaRPr lang="en-US" sz="1867" dirty="0"/>
          </a:p>
          <a:p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utama dan lebar menghasilkan estimasi hampir identik.</a:t>
            </a:r>
            <a:endParaRPr lang="en-US" sz="1867" dirty="0"/>
          </a:p>
          <a:p>
            <a:endParaRPr lang="en-US" sz="1867" dirty="0"/>
          </a:p>
          <a:p>
            <a:r>
              <a:rPr lang="en-US" sz="1867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Normal(0; 2,5) dipilih sebagai prior akhir.</a:t>
            </a:r>
            <a:endParaRPr lang="en-US" sz="18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Uji: Bayesian Setara OLS, Jauh di Atas Random Forest</a:t>
            </a:r>
            <a:endParaRPr lang="en-US" sz="2800" dirty="0"/>
          </a:p>
        </p:txBody>
      </p:sp>
      <p:pic>
        <p:nvPicPr>
          <p:cNvPr id="4" name="Image 0" descr="/home/claude/bayes_img/img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858000" cy="489661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63040"/>
          <a:ext cx="3931920" cy="175564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743,74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80960" y="34290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E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3429000"/>
            <a:ext cx="64008" cy="8686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63840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Bayesian 1,725 vs OLS 1,730: selisih sekitar 0,3%; MAE dan MAPE Bayesian sedikit lebih tinggi.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680960" y="43891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EF5F4"/>
          </a:solidFill>
          <a:ln/>
        </p:spPr>
      </p:sp>
      <p:sp>
        <p:nvSpPr>
          <p:cNvPr id="10" name="Shape 6"/>
          <p:cNvSpPr/>
          <p:nvPr/>
        </p:nvSpPr>
        <p:spPr>
          <a:xfrm>
            <a:off x="7680960" y="4389120"/>
            <a:ext cx="64008" cy="8686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863840" y="43891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RMSE 4,384; menaksir terlalu rendah pada r besar dan tidak turun ke nol pada r kecil.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680960" y="53492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EF5F4"/>
          </a:solidFill>
          <a:ln/>
        </p:spPr>
      </p:sp>
      <p:sp>
        <p:nvSpPr>
          <p:cNvPr id="13" name="Shape 9"/>
          <p:cNvSpPr/>
          <p:nvPr/>
        </p:nvSpPr>
        <p:spPr>
          <a:xfrm>
            <a:off x="7680960" y="5349240"/>
            <a:ext cx="64008" cy="868680"/>
          </a:xfrm>
          <a:prstGeom prst="rect">
            <a:avLst/>
          </a:prstGeom>
          <a:solidFill>
            <a:srgbClr val="B0472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863840" y="53492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menyesatkan karena r minimum 0,01; gunakan RMSE, MAE, dan R².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533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4533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767841"/>
            <a:ext cx="3413760" cy="2772076"/>
          </a:xfrm>
          <a:prstGeom prst="roundRect">
            <a:avLst>
              <a:gd name="adj" fmla="val 4286"/>
            </a:avLst>
          </a:prstGeom>
          <a:solidFill>
            <a:srgbClr val="14355F"/>
          </a:solidFill>
          <a:ln w="12700">
            <a:solidFill>
              <a:srgbClr val="1435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3440" y="2072640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Transformasi berhasil</a:t>
            </a:r>
            <a:endParaRPr lang="en-US" sz="2533" dirty="0"/>
          </a:p>
        </p:txBody>
      </p:sp>
      <p:sp>
        <p:nvSpPr>
          <p:cNvPr id="5" name="Text 3"/>
          <p:cNvSpPr txBox="1"/>
          <p:nvPr/>
        </p:nvSpPr>
        <p:spPr>
          <a:xfrm>
            <a:off x="853440" y="3230880"/>
            <a:ext cx="29260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turun 1,739 → 0,466; korelasi log(r) dengan Fn² mencapai 0,997.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4389120" y="1767841"/>
            <a:ext cx="3413760" cy="2772076"/>
          </a:xfrm>
          <a:prstGeom prst="roundRect">
            <a:avLst>
              <a:gd name="adj" fmla="val 4286"/>
            </a:avLst>
          </a:prstGeom>
          <a:solidFill>
            <a:srgbClr val="14355F"/>
          </a:solidFill>
          <a:ln w="12700">
            <a:solidFill>
              <a:srgbClr val="1435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2960" y="2072640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stabil dan robust</a:t>
            </a:r>
            <a:endParaRPr lang="en-US" sz="2533" dirty="0"/>
          </a:p>
        </p:txBody>
      </p:sp>
      <p:sp>
        <p:nvSpPr>
          <p:cNvPr id="8" name="Text 6"/>
          <p:cNvSpPr txBox="1"/>
          <p:nvPr/>
        </p:nvSpPr>
        <p:spPr>
          <a:xfrm>
            <a:off x="4632960" y="3230880"/>
            <a:ext cx="29260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R-hat 1,0008; hasil identik untuk prior Normal(0; 2,5) dan (0; 10).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8168640" y="1767841"/>
            <a:ext cx="3413760" cy="2772076"/>
          </a:xfrm>
          <a:prstGeom prst="roundRect">
            <a:avLst>
              <a:gd name="adj" fmla="val 4286"/>
            </a:avLst>
          </a:prstGeom>
          <a:solidFill>
            <a:srgbClr val="14355F"/>
          </a:solidFill>
          <a:ln w="12700">
            <a:solidFill>
              <a:srgbClr val="1435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2072640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Akurat dan terukur</a:t>
            </a:r>
            <a:endParaRPr lang="en-US" sz="2533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230880"/>
            <a:ext cx="29260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1,725 dan R² 0,9889 di data uji, plus interval kredibel.</a:t>
            </a:r>
            <a:endParaRPr lang="en-US" sz="1867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25C03DA-4A95-EF4A-79EC-6CD81911A8BC}"/>
              </a:ext>
            </a:extLst>
          </p:cNvPr>
          <p:cNvSpPr/>
          <p:nvPr/>
        </p:nvSpPr>
        <p:spPr>
          <a:xfrm>
            <a:off x="609599" y="4968240"/>
            <a:ext cx="10972799" cy="1463040"/>
          </a:xfrm>
          <a:prstGeom prst="roundRect">
            <a:avLst>
              <a:gd name="adj" fmla="val 6667"/>
            </a:avLst>
          </a:prstGeom>
          <a:solidFill>
            <a:srgbClr val="1B2A49"/>
          </a:solidFill>
          <a:ln/>
        </p:spPr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4F9080A-7F09-31DB-4CF5-9387574AC67F}"/>
              </a:ext>
            </a:extLst>
          </p:cNvPr>
          <p:cNvSpPr txBox="1"/>
          <p:nvPr/>
        </p:nvSpPr>
        <p:spPr>
          <a:xfrm>
            <a:off x="1004237" y="5120640"/>
            <a:ext cx="10334324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0000"/>
              </a:lnSpc>
            </a:pP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Bayesian dengan transformasi log(r) dan poly(Fn,2) berhasil memodelkan hambatan sisa kapal secara tepat, terukur, dan dapat dijelaskan — konvergen stabil, tidak sensitif terhadap prior, dan akurasinya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unggul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OLS serta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unggul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6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Random Forest, dengan nilai tambah berupa kuantifikasi ketidakpastian melalui interval kredibel.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1012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 14</cp:lastModifiedBy>
  <cp:revision>4</cp:revision>
  <dcterms:created xsi:type="dcterms:W3CDTF">2026-09-29T05:56:50Z</dcterms:created>
  <dcterms:modified xsi:type="dcterms:W3CDTF">2026-09-30T08:38:12Z</dcterms:modified>
</cp:coreProperties>
</file>